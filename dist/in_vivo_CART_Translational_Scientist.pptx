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13716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Microsoft YaHei"/>
              </a:rPr>
              <a:t>in vivo CAR-T 转化科学家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CFE6F5"/>
                </a:solidFill>
                <a:latin typeface="Microsoft YaHei"/>
              </a:rPr>
              <a:t>Translational Scientist 在 in vivo CAR-T 领域的核心任务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A8A8"/>
                </a:solidFill>
                <a:latin typeface="Microsoft YaHei"/>
              </a:rPr>
              <a:t>递送进去了吗？  •  做出 CAR-T 了吗？  •  安全且有效吗？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FE6F5"/>
                </a:solidFill>
                <a:latin typeface="Microsoft YaHei"/>
              </a:rPr>
              <a:t>Prepared for: Nan Yang  |  Generated by Cursor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D91"/>
                </a:solidFill>
                <a:latin typeface="Microsoft YaHei"/>
              </a:rPr>
              <a:t>目录 /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F2A44"/>
                </a:solidFill>
                <a:latin typeface="Microsoft YaHei"/>
              </a:rPr>
              <a:t>• 01.  in vivo CAR-T 概述与 TS 角色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A44"/>
                </a:solidFill>
                <a:latin typeface="Microsoft YaHei"/>
              </a:rPr>
              <a:t>• 02.  靶点与适应症的转化可行性评估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A44"/>
                </a:solidFill>
                <a:latin typeface="Microsoft YaHei"/>
              </a:rPr>
              <a:t>• 03.  递送系统的转化表征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A44"/>
                </a:solidFill>
                <a:latin typeface="Microsoft YaHei"/>
              </a:rPr>
              <a:t>• 04.  药效学 / 转化药理学 (PK-PD-Efficacy)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A44"/>
                </a:solidFill>
                <a:latin typeface="Microsoft YaHei"/>
              </a:rPr>
              <a:t>• 05.  安全性与风险转化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A44"/>
                </a:solidFill>
                <a:latin typeface="Microsoft YaHei"/>
              </a:rPr>
              <a:t>• 06.  生物标志物 (Biomarker) 策略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A44"/>
                </a:solidFill>
                <a:latin typeface="Microsoft YaHei"/>
              </a:rPr>
              <a:t>• 07.  转化模型与建模仿真 (M&amp;S)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A44"/>
                </a:solidFill>
                <a:latin typeface="Microsoft YaHei"/>
              </a:rPr>
              <a:t>• 08.  跨职能协作与 IND/CTA 文件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A44"/>
                </a:solidFill>
                <a:latin typeface="Microsoft YaHei"/>
              </a:rPr>
              <a:t>• 09.  临床阶段的反向转化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F2A44"/>
                </a:solidFill>
                <a:latin typeface="Microsoft YaHei"/>
              </a:rPr>
              <a:t>• 10.  一句话总结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F70"/>
                </a:solidFill>
                <a:latin typeface="Microsoft YaHe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D91"/>
                </a:solidFill>
                <a:latin typeface="Microsoft YaHei"/>
              </a:rPr>
              <a:t>01  in vivo CAR-T 概述与 TS 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55F70"/>
                </a:solidFill>
                <a:latin typeface="Microsoft YaHei"/>
              </a:rPr>
              <a:t>通过体内递送 (LNP-mRNA / 病毒载体) 直接生成 CAR-T，绕过 ex vivo 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in vivo CAR-T：通过 LNP-mRNA、慢病毒或 AAV 在患者体内生成 CAR-T 细胞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绕过传统 ex vivo 的关键步骤：白细胞采集、体外编辑/扩增、淋巴清除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缩短交付时间、降低成本、扩大可及性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对递送、表达动力学、安全性提出全新要求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转化科学家 (TS) 是 Discovery / CMC 与 Clinical 的桥梁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核心使命：让临床前数据可解释、可外推、可指导临床决策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F70"/>
                </a:solidFill>
                <a:latin typeface="Microsoft YaHe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D91"/>
                </a:solidFill>
                <a:latin typeface="Microsoft YaHei"/>
              </a:rPr>
              <a:t>02  靶点与适应症的转化可行性评估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55F70"/>
                </a:solidFill>
                <a:latin typeface="Microsoft YaHei"/>
              </a:rPr>
              <a:t>Target Safety Assessment 与适应症排序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评估靶点在健康组织 vs. 病变组织的表达谱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代表性靶点：CD19、BCMA、CD20、CD7、Claudin18.2 等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结合人源单细胞/蛋白质组数据判断 on-target/off-tumor 风险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比较 in vivo 与 ex vivo 给药差异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靶向递送窗口、正常 B 细胞清除及恢复动力学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输出 Target Safety Assessment (TSA) 与适应症排序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支持立项决策与 IND 策略制定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F70"/>
                </a:solidFill>
                <a:latin typeface="Microsoft YaHe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D91"/>
                </a:solidFill>
                <a:latin typeface="Microsoft YaHei"/>
              </a:rPr>
              <a:t>03  递送系统的转化表征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55F70"/>
                </a:solidFill>
                <a:latin typeface="Microsoft YaHei"/>
              </a:rPr>
              <a:t>in vivo CAR-T 的核心差异点 —— 递送决定一切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靶向 LNP 的转染特异性评估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抗 CD5/CD7/CD3/CD8 抗体偶联或可电离脂质对 T 细胞 (HSC、NK) 的特异性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量化非靶细胞 (肝、脾巨噬细胞) 摄取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建立关键测定方法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生物分布 (BioD)、mRNA/CAR 蛋白表达动力学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体内 CAR+ 细胞频率/绝对数：qPCR、ddPCR、流式、IHC、scRNA-seq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评估重复给药可行性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ADA、补体激活、PEG 相关过敏反应 (CARPA)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F70"/>
                </a:solidFill>
                <a:latin typeface="Microsoft YaHe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D91"/>
                </a:solidFill>
                <a:latin typeface="Microsoft YaHei"/>
              </a:rPr>
              <a:t>04  药效学 / 转化药理学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55F70"/>
                </a:solidFill>
                <a:latin typeface="Microsoft YaHei"/>
              </a:rPr>
              <a:t>PK-PD-Efficacy 三角与 FIH 起始剂量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在合适动物模型中开展研究：人源化 NSG/HuPBMC、syngeneic 小鼠、NHP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PK：LNP 分布、mRNA 半衰期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PD：CAR 表达水平、体内 CAR-T 扩增曲线、靶细胞清除、细胞因子谱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Efficacy：肿瘤负荷下降、生存期、复发与抗原逃逸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构建 MABEL / PAD (Pharmacologically Active Dose) 模型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为 FIH 起始剂量提供依据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剂量以 mg mRNA/kg 表示 —— 与 ex vivo 的细胞剂量概念根本不同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F70"/>
                </a:solidFill>
                <a:latin typeface="Microsoft YaHe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D91"/>
                </a:solidFill>
                <a:latin typeface="Microsoft YaHei"/>
              </a:rPr>
              <a:t>05  安全性与风险转化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55F70"/>
                </a:solidFill>
                <a:latin typeface="Microsoft YaHei"/>
              </a:rPr>
              <a:t>in vivo CAR-T 特有风险及可转化的安全性 biomarker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in vivo CAR-T 特有风险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CRS / ICANS：动力学不同，因 CAR-T 是“内源生成”的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基因毒性 / 插入突变：若使用病毒载体或 DNA 模板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非靶细胞被转染导致 CAR 在非 T 细胞表达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LNP 相关肝毒性、补体激活、过敏反应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与毒理团队共同设计 GLP 毒理研究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可转化 biomarker：IL-6、IFN-γ、铁蛋白、CRP、神经丝轻链 NfL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F70"/>
                </a:solidFill>
                <a:latin typeface="Microsoft YaHe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D91"/>
                </a:solidFill>
                <a:latin typeface="Microsoft YaHei"/>
              </a:rPr>
              <a:t>06  生物标志物 (Biomarker) 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55F70"/>
                </a:solidFill>
                <a:latin typeface="Microsoft YaHei"/>
              </a:rPr>
              <a:t>覆盖入组、PD、安全性与耐药四大维度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入组 / 分层 biomarker：靶抗原表达、T 细胞数量与功能、既往治疗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PD biomarker：外周血 CAR mRNA/拷贝数、CAR+ T 细胞比例、靶细胞清除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安全性 biomarker：细胞因子风暴标志物、补体激活、肝功能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耐药 biomarker：抗原丢失、T 细胞耗竭、TME 免疫抑制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制定 Assay Development &amp; Validation Plan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确保从临床前到临床方法学一致、数据可比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F70"/>
                </a:solidFill>
                <a:latin typeface="Microsoft YaHe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D91"/>
                </a:solidFill>
                <a:latin typeface="Microsoft YaHei"/>
              </a:rPr>
              <a:t>07  转化模型与建模仿真 (M&amp;S)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55F70"/>
                </a:solidFill>
                <a:latin typeface="Microsoft YaHei"/>
              </a:rPr>
              <a:t>QSP / PBPK / Semi-mechanistic PK-PD 支持 Ph1 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动物→人剂量外推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allometric scaling 对 LNP 通常不直接适用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需基于受体占有率与靶细胞动力学进行机制建模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情景模拟支持方案设计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单剂 vs. 多剂、剂量递增策略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CAR-T 扩增与 B 细胞恢复曲线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输出：Ph1 给药方案、监测频次、暂停规则的定量依据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F70"/>
                </a:solidFill>
                <a:latin typeface="Microsoft YaHe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D91"/>
                </a:solidFill>
                <a:latin typeface="Microsoft YaHei"/>
              </a:rPr>
              <a:t>08  跨职能协作与 IND/CTA 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55F70"/>
                </a:solidFill>
                <a:latin typeface="Microsoft YaHei"/>
              </a:rPr>
              <a:t>TS 是 IND/CTA 转化章节的主笔人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撰写 IND/CTA 关键模块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Module 2.6.4 (药理学) / 2.6.6 (毒理学总结)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转化科学章节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与 CMC 协调批次表征对体内表现的影响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LNP 粒径、PDI、包封率、mRNA 完整性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与临床团队共同设计 Ph1 方案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剂量递增 (BOIN/mTPI 等)、暂停规则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监测频次、生物样本采集计划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F70"/>
                </a:solidFill>
                <a:latin typeface="Microsoft YaHe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D91"/>
                </a:solidFill>
                <a:latin typeface="Microsoft YaHei"/>
              </a:rPr>
              <a:t>09  临床阶段的反向转化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55F70"/>
                </a:solidFill>
                <a:latin typeface="Microsoft YaHei"/>
              </a:rPr>
              <a:t>Reverse Translation —— 让临床数据回灌到下一代设计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收集 Ph1 患者的 PK/PD/biomarker 数据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回灌至临床前模型，校准动物→人外推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解释非预期信号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如 CAR 持久性短、CRS 偏强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F2A44"/>
                </a:solidFill>
                <a:latin typeface="Microsoft YaHei"/>
              </a:rPr>
              <a:t>• 指导下一代产品与策略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下一代 LNP / mRNA 设计</a:t>
            </a:r>
          </a:p>
          <a:p>
            <a:pPr lvl="1" algn="l">
              <a:spcAft>
                <a:spcPts val="600"/>
              </a:spcAft>
            </a:pPr>
            <a:r>
              <a:rPr sz="1400">
                <a:solidFill>
                  <a:srgbClr val="555F70"/>
                </a:solidFill>
                <a:latin typeface="Microsoft YaHei"/>
              </a:rPr>
              <a:t>– 联合用药：IL-6R 拮抗剂预处理、淋巴清除替代方案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F70"/>
                </a:solidFill>
                <a:latin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一句话总结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FE6F5"/>
                </a:solidFill>
                <a:latin typeface="Microsoft YaHei"/>
              </a:rPr>
              <a:t>in vivo CAR-T 的转化科学家，本质上要回答三个问题：</a:t>
            </a:r>
          </a:p>
          <a:p>
            <a:pPr>
              <a:spcBef>
                <a:spcPts val="1800"/>
              </a:spcBef>
            </a:pPr>
            <a:r>
              <a:rPr sz="2800" b="1">
                <a:solidFill>
                  <a:srgbClr val="00A8A8"/>
                </a:solidFill>
                <a:latin typeface="Microsoft YaHei"/>
              </a:rPr>
              <a:t>“递送进去了吗？  →  做出 CAR-T 了吗？  →  安全且有效吗？”</a:t>
            </a:r>
          </a:p>
          <a:p>
            <a:pPr>
              <a:spcBef>
                <a:spcPts val="1800"/>
              </a:spcBef>
            </a:pPr>
            <a:r>
              <a:rPr sz="2000">
                <a:solidFill>
                  <a:srgbClr val="FFFFFF"/>
                </a:solidFill>
                <a:latin typeface="Microsoft YaHei"/>
              </a:rPr>
              <a:t>并通过 biomarker、PK/PD 模型与跨职能协作，把这三个答案从动物外推到人，并在临床阶段持续迭代。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F70"/>
                </a:solidFill>
                <a:latin typeface="Microsoft YaHe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0B3D91"/>
                </a:solidFill>
                <a:latin typeface="Microsoft YaHei"/>
              </a:rPr>
              <a:t>Thank You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555F70"/>
                </a:solidFill>
                <a:latin typeface="Microsoft YaHei"/>
              </a:rPr>
              <a:t>欢迎进一步讨论 in vivo CAR-T 转化策略与管线对标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