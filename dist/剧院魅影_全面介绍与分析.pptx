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5349240"/>
            <a:ext cx="11786616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ANDREW LLOYD WEBBER  ·  1986  ·  全面介绍与分析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剧院魅影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i="1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D8CFC4"/>
                </a:solidFill>
                <a:latin typeface="Microsoft YaHei"/>
                <a:ea typeface="Microsoft YaHei"/>
                <a:cs typeface="Microsoft YaHei"/>
              </a:rPr>
              <a:t>一部哥特浪漫悲剧，如何成为四十年超级音乐剧工业的样板：
半面具、吊灯、地下湖，以及一个无法被爱、只能被承认的人。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伦敦西区 1986  ·  百老汇 1988–2023（13,981 场，史上最长）  ·  全球逾 1.6 亿观众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2026 四十周年  ·  分析文稿配套演示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02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01  它究竟是一部什么戏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不是恐怖片，是被豪华工业包装过的哥特浪漫悲剧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278892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417320"/>
            <a:ext cx="73152" cy="288036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527048"/>
            <a:ext cx="245973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神话级简约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半面具、玫瑰、吊灯、地下湖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四个图像即可完成全球传播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比任何剧情简介都更快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78892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73152" cy="2880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527048"/>
            <a:ext cx="245973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可哼唱的品牌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主题曲可进单曲榜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爱情咏叹可进婚礼与流行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歌剧片段服务戏中戏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78892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73152" cy="2880360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527048"/>
            <a:ext cx="245973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现场不可盗版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吊灯的物理下落无法被视频替代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观众与机关处在同一空间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这是流媒体时代仍能卖票的根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417320"/>
            <a:ext cx="2788920" cy="28803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417320"/>
            <a:ext cx="73152" cy="2880360"/>
          </a:xfrm>
          <a:prstGeom prst="rect">
            <a:avLst/>
          </a:prstGeom>
          <a:solidFill>
            <a:srgbClr val="8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527048"/>
            <a:ext cx="2459736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可复制的工业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麦金托什全球克隆体系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装箱走货运的同一套调度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也因此极度依赖满座与旅游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11247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核心悖论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一个拒绝被看见的人，创造了二十世纪末最被看见的舞台形象；一个关于残缺与放逐的故事，变成全球旅游城市的豪华商品；一次要求绝对占有的爱，最后只能以放手完成自己。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四十年后还值得分析，不是因为吊灯还在掉，而是因为它把几件现代人没解决的事唱进了公共记忆：才华能否兑换爱，观看能否不伤害，以及我们为怪物鼓掌时在为自己的哪一部分辩护。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03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目录  /  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先建立地图，再进入人物、音乐、舞台与接受史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2588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47218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它究竟是一部什么戏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10312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0312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4942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作品身份证与创班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8036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8036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2666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从小说到舞台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5760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65760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5760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80390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剧情的时间套层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3484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43484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3484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58114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人物三角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1208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658368" cy="658368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1208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5838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主题：观看 / 权力 / 父之名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132588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132588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32588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147218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音乐：三层声音与主导动机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210312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10312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10312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4942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舞台奇观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288036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288036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88036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302666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全球演出史与中国接受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365760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365760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65760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80390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衍生、批评与四十年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443484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43484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43484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58114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如何看、如何听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5212080"/>
            <a:ext cx="557784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5212080"/>
            <a:ext cx="658368" cy="658368"/>
          </a:xfrm>
          <a:prstGeom prst="rect">
            <a:avLst/>
          </a:prstGeom>
          <a:solidFill>
            <a:srgbClr val="4A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21208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5358384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身份证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04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02  作品身份证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创班即美学：为莎拉·布莱曼而写，由普林斯做成黑箱里的金色巴洛克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70432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70432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801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作曲 / 剧本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28016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安德鲁·劳埃德·韦伯；剧本另与理查·史提哥合作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92224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92224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0195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歌词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01952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查尔斯·哈特主笔，史提哥补充；斯坦曼拒绝，勒纳因病退出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14016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23744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原著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523744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加斯东·勒鲁《歌剧院幽灵》（1909–1910），非希尔 1976 版的升级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45536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导演 / 舞美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14553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哈罗德·普林斯；玛丽亚·布琼森（服装逾 200 套，半面具设计者）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67328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编舞 / 制作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767328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吉莉安·林恩；卡麦隆·麦金托什 + Really Useful Group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79392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279392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89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首演阵容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38912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魅影 克劳福德 · 克莉丝汀 布莱曼 · 劳尔 史蒂夫·巴顿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01184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901184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109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时空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010912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巴黎歌剧院及其地下；序幕 1919，主线约 1881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22976"/>
            <a:ext cx="11292840" cy="548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522976"/>
            <a:ext cx="2148840" cy="54864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632704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奖项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632704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奥利弗奖最佳新音乐剧；托尼奖 10 提 7 中（含最佳音乐剧/导演/男主/布景/服装/灯光/女配）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改编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05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03  从小说到舞台：三件关键手术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韦伯说：他职业生涯一直想写一部“重大浪漫故事”，原著英译给了他抓手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丢掉侦探结构，收成三角恋爱。小说后半配角与破案线索被砍，歌剧院本身升为主角。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把魅影从都市传说里的怪物，改写成被拒绝的艺术家：作曲家、建筑师、机关师，然后才是杀手。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把剧院写成元戏剧装置。观众坐在剧院里，看一座剧院被自己的幽灵劫持。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身世压缩成吉瑞夫人的口述：畸形、马戏团兽笼、逃亡、藏进歌剧院——浪漫主义“被诅咒的天才”。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平行改编，不是肯·希尔 1976/1984 版的升级；看过希尔版后另起炉灶。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华语三地译名不同（剧院 / 歌剧 / 歌声魅影），辨识硬标准是版权、半面具与吊灯。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25880"/>
            <a:ext cx="4343400" cy="4937760"/>
          </a:xfrm>
          <a:prstGeom prst="roundRect">
            <a:avLst>
              <a:gd name="adj" fmla="val 8000"/>
            </a:avLst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改编的伦理选择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舞台版更干净、更浪漫、更不侦探。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好处：两小时内能把“要被爱”唱成神话。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代价：谋杀更容易被旋律宽恕；女性主体的上限停在一吻与婚姻。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1925 默片提供另一极：更怪物、更哑剧、更身体。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看音乐剧之前，先分清你进入的是哪一条改编传统。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创班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06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04  创班：一部“为谁而写”的戏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1985 悉德蒙顿试演时，吊灯与管风琴序曲已经定型，至今未改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562356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50876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声音缪斯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克莉丝汀为布莱曼量身而写。她处在古典女高音与流行跨界之间，决定了全剧必须能唱歌剧片段，也能把主题曲送进英国单曲榜前十（1986 与 Steve Harley 合唱版）。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62356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0876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结构主义者导演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普林斯不是纯抒情片导演。黑箱吞噬边缘，中心极尽金色巴洛克。他把《Cabaret》《Evita》的制度批判手感，用在一座歌剧院的权力游戏上。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62356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77639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半面具是事故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工作坊全罩面具挡住视线、闷住声音。布琼森改成半面具，揭面段落才成为可能。制作约束变成了核心符号：一半可见，一半不可见。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62356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977639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作词几经易手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斯坦曼档期不合，勒纳病退，史提哥出初稿，年轻的哈特重写大部分歌词。主题曲的公共记忆，是多次筛选后的结果，不是一次神启。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07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05  时间套层：记忆如何被通电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1919 拍卖 → 吊灯升起 → 1881。结局的重量在第一分钟被预支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7160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4475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01   1919 拍卖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19456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苍老劳尔买下猴子八音盒（665）。下一件是残破吊灯（666）。“从未被完全解释的事件”。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88920" cy="64008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4475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02   吊灯通电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9456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升起 = 记忆被接通。序曲炸开。观众收到奇观承诺，也收到悼亡者视角。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37160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788920" cy="64008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44475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03   1881 主线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19456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新经理、新女高音、地下王国、天台定情、吊灯坠落、化妆舞会、不归点、一吻。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37160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44475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04   回到物件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19456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人群涌入，王座只剩面具。四十年后人们买卖物件，不买卖真相。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结构功能：这不是正在发生的新闻，而是已被封存的传奇。劳尔先以幸存者出场，再在回忆里变成年轻情敌。终场只留面具，与开场只留拍品，首尾是同一句话——人消失，符号留下。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第一幕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08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06  第一幕：被选中，与坠落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从《汉尼拔》彩排到天台定情，吊灯是死刑宣告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卡罗塔罢演，芭蕾群里的克莉丝汀顶上，《Think of Me》一炮而红；劳尔认出旧时玩伴。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“音乐天使”从未露面。镜子滑开，半面具把她带入地下湖与烛光贡多拉。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《The Music of the Night》：她看见披婚纱的自己的蜡像——爱的是已经完成的客体。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私密揭面：暴怒，然后哀求被爱。面具是进入文明的许可证，被第一次剥夺。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O.G. 战书、蛙声、《哑仆》、布克被勒死。剧院的说话等级：工人说得太多就会死。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天台《All I Ask of You》：日光、保护、婚姻契约。暗处魅影用同一旋律唱残它。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吊灯砸向舞台。第一幕结束在“爱情主题被污染”而不是单纯的特效点。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第二幕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09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07  第二幕：假面、不归点、一吻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社会以为幽灵已死，用最大面积的明亮群像庆祝，然后被真正的假面刺穿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六个月后化妆舞会。《Masquerade》是反讽：人们穿成魅影的样子嘲笑魅影。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红衣死神夺走订婚戒指，扔出《唐璜的胜利》。劳尔决定把首演做成捕猎。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墓园《Wishing You Were Somehow Here Again》：父之名的 X 光。她要的是恋人、老师，还是把父亲唱回来？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魅影盗用亡父的声音；劳尔冲入，结构上是另一个男人接管保护权。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首演夜：后台勒死皮安吉，替上唐璜。《The Point of No Return》让戏中戏与真实引诱重叠。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克莉丝汀当众揭面——把私下恐惧变成公共行动。公开观看变成处决。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套索困住劳尔。她走上前亲吻这张脸：给予承认，拒绝成为赎金。他放走两人。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人群抵达时，人已经不在。梅格捡起面具，把传奇递交给观众。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人物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10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08  三角不是正派 / 反派 / 女主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两种求爱在和声上是同一枚硬币的两面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298448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98448"/>
            <a:ext cx="3749039" cy="86868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37160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魅影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夜 · 艺术 · 执念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声音先于身体：社会允许天才的声音流通，不允许那张脸进入沙龙。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爱含教学、占有、创作三种欲望。蜡像婚纱说明客体先于活人。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放手才是他第一次像爱人而非收藏家行动。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298448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298448"/>
            <a:ext cx="3749039" cy="86868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37160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克莉丝汀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被夹在中间的主体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860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丧父 → 音乐天使替代父亲 → 因被选中而感激 → 选择日光 → 墓园再屈服 → 当众揭面 → 一吻完成审判。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怕的不是脸，是那颗必须靠控制别人才能感觉自己存在的心。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主动性集中在揭面与一吻；离开地下后仍走进婚姻——1986 年的极限。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298448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1298448"/>
            <a:ext cx="3749039" cy="86868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137160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劳尔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昼 · 合法 · 较薄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2860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提供安全、身份、契约。不信幽灵：既是勇气也是阶级傲慢。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承诺“不再谈论黑暗”，但她的声音来自黑暗。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先以 1919 年悼亡者现身，说明他赢了人，没赢过传奇。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11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09  主题：观看、权力、父之名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全剧最重要的动作不是唱歌，是看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8016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80160"/>
            <a:ext cx="91440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观看的政治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镜子、蜡像、第五包厢、假面、当众揭面、围猎。半面具是协商：给你看一半，换取文明许可证。观众买票看毁容与坠落——戏在指控围观的同时满足围观。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91440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6304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艺术作为国籍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他在人间没有合法身份，艺术是唯一护照。要求第五包厢、自己的歌剧、自己的女高音。真正超前的不协和作品，出自不被允许进入大厅的人。浪漫，也几乎宽恕谋杀。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49039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749039"/>
            <a:ext cx="91440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19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父之名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歌唱起源于亡父的许诺。魅影盗用“音乐天使”。墓园是心理结构的 X 光。劳尔的救援，结构上是接管保护权。一吻暂时平视，然后社会仍只给婚姻这一条路。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91440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19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未完成的救赎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没有被社会接纳，没有被治愈。承认换自由。人消失，面具留下。开场拍卖已经剧透：人们买卖物件，不买卖真相。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音乐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12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10  三层声音世界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拼贴在这里是方法：歌剧院本来就是一座风格博物馆。风格分层 = 权力分层。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1338560" cy="50292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89888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389888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谁在唱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389888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风格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389888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戏剧功能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74519"/>
            <a:ext cx="11338560" cy="8686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1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戏中戏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039111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卡罗塔 / 皮安吉 / 合唱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39111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大歌剧、轻歌剧、梅耶贝尔—吉尔伯特戏仿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3911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建立“官方艺术”，供打断与嘲笑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11338560" cy="86868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90779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地面抒情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0779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克莉丝汀 / 劳尔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90779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流行—普契尼式咏叹（operatic pop）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0779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可被带走的爱情品牌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611879"/>
            <a:ext cx="11338560" cy="8686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776471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地下现代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776471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魅影 / 《唐璜的胜利》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76471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管风琴、摇滚、不协和、三全音执念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77647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宣布另一种时间，超前而被放逐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标题曲写在反复出现的三全音上（diabolus in musica，音乐中的魔鬼）。它不让旋律安定，只让念头循环。魅影不是混乱，是执念。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管风琴给哥特重量，合成器与摇滚律动把它送进 1980 年代流行耳感。罗杰·沃特斯曾指认平克·弗洛伊德 Echoes 的阴影，并表示懒得起诉——“似曾相识”本身就是韦伯的公共记忆技术。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音乐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13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11  主导动机与关键曲目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不是歌单剧。同一段旋律可以先是誓言，再是诅咒。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序曲管风琴音型：王国的纹章，全晚都会回来。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标题曲下行：诱拐进行曲，空间从化妆室滑向地下。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《Think of Me》：被选中的声音，也是劳尔认出她的声音。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《The Music of the Night》：夜的教学法，诱惑写成保护。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《All I Ask of You》及其 Reprise：全剧最狠的一刀——幸福和诅咒共用旋律。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《Masquerade》：假面社会的合唱；八音盒在序幕已埋种子。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《Wishing You Were Somehow Here Again》：对亡父，而非对恋人。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《The Point of No Return》：戏中戏与犯罪现场叠在同一段音乐里。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325880"/>
            <a:ext cx="4297680" cy="4937760"/>
          </a:xfrm>
          <a:prstGeom prst="roundRect">
            <a:avLst>
              <a:gd name="adj" fmla="val 8000"/>
            </a:avLst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55448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听的时候抓这一刀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第一幕结尾，天台咏叹立刻被暗处的声音唱残。若这一段不能让你感到“旋律已经变脏”，说明还没进入核心。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和声上的暧昧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斯内尔森指出：夜之乐章与天台咏叹骨架相近。克莉丝汀的困境不是选好人，是两种包装不同的占有，哪一种她还能呼吸。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8CFC4"/>
                </a:solidFill>
                <a:latin typeface="Microsoft YaHei"/>
                <a:ea typeface="Microsoft YaHei"/>
                <a:cs typeface="Microsoft YaHei"/>
              </a:rPr>
              <a:t>普契尼遗产方曾就夜之乐章庭外和解。《西部女郎》的影子，说明这部戏大量征用已训练过大众耳朵的晚期浪漫语汇。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舞台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14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12  舞台奇观：特效是叙事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没有这盏灯，品牌会立刻瘦一圈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53312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吊灯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序幕升起 = 记忆复活；一幕末坠落 = 爱情契约的死刑。把观众从安全的“看戏”抛进“被砸到”的错觉。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280160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353312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镜子门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化妆室的纳西索斯装置：她以为在看自己，拉她走的是他。主体与客体在同一平面。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280160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1280160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353312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地下湖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8745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蜡烛从水面升起，贡多拉横过舞台。把口头传说变成可居住的夜之国。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22191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斜桥追逐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4339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旅行台切开剧院剖面：屋顶、后台、下水道同时存在。垂直空间即权力空间。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9392" y="3749039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3822191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化妆舞会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34339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最大面积明亮群像，被红衣死神刺穿。视觉高潮，也是“社会以为已胜利”的反讽。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3749039"/>
            <a:ext cx="3749039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4" y="3749039"/>
            <a:ext cx="3749039" cy="4572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4" y="3822191"/>
            <a:ext cx="37490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200+ 戏服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34339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歌剧院靠被看见的奢侈运转。黑披风是对这套视觉制度的反向加冕。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演出史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15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13  全球演出史：一部可克隆的工业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第二长寿西区音乐剧；百老汇史上场次第一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1986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39903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伦敦西区首演，国王陛下剧院（当时女王陛下）。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2316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35915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百老汇开演；维也纳、东京启动全球复制。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1989–99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31927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多伦多长驻。汉堡等德语版成为欧洲票房机器。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7939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舒马赫电影。上海大剧院原版首进中国。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951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拉斯维加斯缩编奇观，剧场按加尼叶歌剧院改建。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23444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46304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2011–12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139903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皇家阿尔伯特 25 周年；百老汇破 10,000 场。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19456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219456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42316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2020–21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35915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新冠停演。伦敦原版实际结束，缩编乐队约 14 人重开（原约 27 人）。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15468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15468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38328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2023.4.16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31927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百老汇原版告别，13,981 场。中文版在上海首演。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114800"/>
            <a:ext cx="562356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14800"/>
            <a:ext cx="1417320" cy="84124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3434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27939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四十周年进行中。台湾纪念版已演完；中国大陆收官轮进行中。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中国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16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14  在中国：从引进奇观到城市 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大陆通译《剧院魅影》。它训练了第一代去剧院看机关、听现场乐队的观众。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9903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2004–05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39903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上海大剧院原版首进，约 97–100 场，当时引进音乐剧场次之最之一。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7627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2013–16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7627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世界巡演：上海文化广场、广州大剧院、北京天桥等。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8892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5351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95351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中文版上海首演，第 18 种语言。制作方称九城约 159 场、票房超 1.5 亿元。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6616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3075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2024–25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3075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英文原版再巡：深圳、西安、上海、苏州、成都、北京等。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4340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0799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2026 现况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0799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武汉琴台 8.25–9.06 刚落幕。上海大剧院告别季 9.29–12.06 即将开演。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2064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1920240" cy="6858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85232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2.0 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28523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沉浸式、户外、主题餐饮与授权。从一场演出扩成城市持续体验。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衍生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17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15  电影、续作、变体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正典如何扩散，以及哪些扩散在削弱终局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8016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2004 电影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古装浪漫片。巴特勒更青春性感，毁容克制。作为入门影像有效；作为舞台替代则丢掉“你和吊灯处在同一空间”的恐怖。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2011 阿尔伯特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拉明 / 波格斯成为许多观众的第二代正典。谢幕历代魅影同台，是活的谱系展览。最易得的完整舞台感影像。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39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Love Never Dies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2010 续作把“放弃”改写为康尼岛上的再追求。伦敦评价两极，百老汇计划取消。反证：原作的力量正在于不给第三次机会。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39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缩编与沉浸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拉斯维加斯、户外场、沉浸式 Masquerade。去掉镜框后通常还剩品牌与旋律；普林斯的黑箱仪式感则不一定还在。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批评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18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16  批评与争议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一部能同时当旅游景点、唱片工业和性别讨论样本的戏，才值得被挑剔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奇观压过人物。弗兰克·里奇：很难在现场过得不快，但它主要是在用幻想淋浴观众。心理密度不如《悲惨世界》或桑德海姆。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熟悉感被写成原罪。普契尼和解、Echoes 指责、主题曲八年诉讼（韦伯胜诉）。更公允的说法：他是极高效的风格压缩器。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女性主体的上限。主动性集中在揭面与一吻，随后仍走进婚姻。当代若只复制 1986 年的凝视，会像在展览一个美丽的人质。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对暴力的浪漫化。勒死工人与男高音后，观众仍为终场的孤独鼓掌。哥特同情需要伦理刹车。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“原版已死”之争。伦敦砍乐队与机关；百老汇因疫情后成本与上座率关闭。超级音乐剧撞上不可复制的经济。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这些批评不取消成就。能被认真反对，说明它已经超出“好听”的范畴，进入了公共文化。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19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17  为何仍能演出四十年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辉煌与挽歌是同一件事的两面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55448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图像可传播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面具 / 玫瑰 / 吊灯 / 湖，四个符号走遍 23 种语言。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325880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325880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55448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声音双国籍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能进歌剧院，也能进卡拉 OK。跨界女高音撑开观众面。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325880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325880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55448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现场不可盗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物理下落、蜡烛、贡多拉。视频是说明书，不是替代。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39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977639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可站边结构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魅影粉与劳尔粉的分裂本身就是再消费引擎。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3749039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3749039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3977639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重工业复制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数十个四十尺集装箱、台口与吊杆硬指标。不是排练厅小品。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749039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3749039"/>
            <a:ext cx="91440" cy="2240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977639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经济极限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必须几乎永远满座。公共卫生或旅游结构一变，就是生存危机。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20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18  如何看、如何听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一条不绕路的入门顺序。不逐句引用受版权保护的歌词。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822960" cy="11155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441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先听 1986 伦敦原班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克劳福德 / 布莱曼 / 巴顿。主题曲、夜之乐章、天台咏叹、墓园、化妆舞会，五首足够建立地图。原班录音在美国曾四白金。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822960" cy="11155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57860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再看 2011 阿尔伯特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目前最易得的完整舞台感。唱功与公开性极强。不要误认成美琪剧院原版调度的逐镜复制。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822960" cy="11155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1304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电影当注释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2004 版补视觉与古装氛围。不要当剧场替代。想看更怪物的身体表演，去 1925 默片。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822960" cy="11155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4748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现场看什么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吊灯、地下湖、半面具是否在。中文版适合听词、跟人物；英文原版适合听声音设计与乐队。看完立刻重听第一幕结尾的 Reprise。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19  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承认换自由。人消失，面具留下。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《剧院魅影》把一个无法进入沙龙的天才，写成二十世纪末最成功的剧场商品。它的旋律训练了全球的耳朵，它的吊灯训练了观众对“现场”的瘾，它的一吻把占有改写成放手——然后立刻把女高音送回婚姻与传奇拍卖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四十年后的观看，不必假装它没有剥削凝视与暴力浪漫；也不必否认它把残缺、艺术与渴望，做成了公共仪式。认真地看，比单纯地迷，更接近这部戏对自己提出的要求。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E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56832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THE PHANTOM OF THE OPERA  ·  剧院魅影  · 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656832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E8D5A3"/>
                </a:solidFill>
                <a:latin typeface="Microsoft YaHei"/>
                <a:ea typeface="Microsoft YaHei"/>
                <a:cs typeface="Microsoft YaHei"/>
              </a:rPr>
              <a:t>22  / 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参考与说明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768096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A605C"/>
                </a:solidFill>
                <a:latin typeface="Microsoft YaHei"/>
                <a:ea typeface="Microsoft YaHei"/>
                <a:cs typeface="Microsoft YaHei"/>
              </a:rPr>
              <a:t>详细论述见 docs/剧院魅影_全面介绍与分析.md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官方史页 phantomoftheopera.com/history；Concord Theatricals 授权概述。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百老汇闭幕场次 13,981 与托尼奖记录，见纽约时报 2023-04-16 报道及公开奖项名单。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中国场次与票房：2004 上海引进报道；中国日报 2024 年转述中文版制作方数据；上海文广 2026 演出季发布。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音乐分析：John Snelson 对主导动机与两首求爱曲和声对应的讨论；三全音与公开诉讼记录。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勒鲁原著已进入公有领域。音乐剧歌词、配乐与舞台设计仍受版权保护，本演示不逐句引用歌词。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2B2426"/>
                </a:solidFill>
                <a:latin typeface="Microsoft YaHei"/>
                <a:ea typeface="Microsoft YaHei"/>
                <a:cs typeface="Microsoft YaHei"/>
              </a:rPr>
              <a:t>▸  华语译名并存：大陆《剧院魅影》、台湾《歌剧魅影》、香港《歌声魅影》，所指为同一部韦伯音乐剧。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E1A28"/>
                </a:solidFill>
                <a:latin typeface="Microsoft YaHei"/>
                <a:ea typeface="Microsoft YaHei"/>
                <a:cs typeface="Microsoft YaHei"/>
              </a:rPr>
              <a:t>分析是地图，现场才是领土。吊灯只在同一空间里坠落。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